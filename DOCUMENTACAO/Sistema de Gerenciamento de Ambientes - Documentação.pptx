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7559675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6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7" d="100"/>
          <a:sy n="87" d="100"/>
        </p:scale>
        <p:origin x="2772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67462"/>
            <a:ext cx="6425724" cy="3759917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72376"/>
            <a:ext cx="5669756" cy="2607442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A36A-B7D5-4969-B7F3-0600573DE2EE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80E7-C6C4-43DA-BA4B-1497A18250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2914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A36A-B7D5-4969-B7F3-0600573DE2EE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80E7-C6C4-43DA-BA4B-1497A18250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993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92444"/>
            <a:ext cx="6520220" cy="4492401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227345"/>
            <a:ext cx="6520220" cy="2362447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A36A-B7D5-4969-B7F3-0600573DE2EE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80E7-C6C4-43DA-BA4B-1497A18250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558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74937"/>
            <a:ext cx="3212862" cy="685235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74937"/>
            <a:ext cx="3212862" cy="685235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A36A-B7D5-4969-B7F3-0600573DE2EE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80E7-C6C4-43DA-BA4B-1497A18250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6596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74990"/>
            <a:ext cx="6520220" cy="208745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47443"/>
            <a:ext cx="3198096" cy="1297471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44914"/>
            <a:ext cx="3198096" cy="58023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47443"/>
            <a:ext cx="3213847" cy="1297471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44914"/>
            <a:ext cx="3213847" cy="58023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A36A-B7D5-4969-B7F3-0600573DE2EE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80E7-C6C4-43DA-BA4B-1497A18250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2360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A36A-B7D5-4969-B7F3-0600573DE2EE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80E7-C6C4-43DA-BA4B-1497A18250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674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A36A-B7D5-4969-B7F3-0600573DE2EE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80E7-C6C4-43DA-BA4B-1497A18250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7527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9984"/>
            <a:ext cx="2438192" cy="2519945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54968"/>
            <a:ext cx="3827085" cy="7674832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39929"/>
            <a:ext cx="2438192" cy="6002369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A36A-B7D5-4969-B7F3-0600573DE2EE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80E7-C6C4-43DA-BA4B-1497A18250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6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9984"/>
            <a:ext cx="2438192" cy="2519945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54968"/>
            <a:ext cx="3827085" cy="7674832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39929"/>
            <a:ext cx="2438192" cy="6002369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A36A-B7D5-4969-B7F3-0600573DE2EE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80E7-C6C4-43DA-BA4B-1497A18250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9928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A36A-B7D5-4969-B7F3-0600573DE2EE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80E7-C6C4-43DA-BA4B-1497A18250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0767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74987"/>
            <a:ext cx="1630055" cy="91523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74987"/>
            <a:ext cx="4795669" cy="91523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CA36A-B7D5-4969-B7F3-0600573DE2EE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680E7-C6C4-43DA-BA4B-1497A18250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0259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74990"/>
            <a:ext cx="652022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74937"/>
            <a:ext cx="652022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10009783"/>
            <a:ext cx="170092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CA36A-B7D5-4969-B7F3-0600573DE2EE}" type="datetimeFigureOut">
              <a:rPr lang="pt-BR" smtClean="0"/>
              <a:t>04/09/2026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10009783"/>
            <a:ext cx="255139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10009783"/>
            <a:ext cx="170092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680E7-C6C4-43DA-BA4B-1497A18250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6223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C78C10E-F8B5-4E82-D2D5-1E1193BBF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642"/>
          <a:stretch>
            <a:fillRect/>
          </a:stretch>
        </p:blipFill>
        <p:spPr>
          <a:xfrm>
            <a:off x="-1" y="1"/>
            <a:ext cx="7559676" cy="1671637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2422FECD-E323-1D92-FEFD-CB96B7BE6AEE}"/>
              </a:ext>
            </a:extLst>
          </p:cNvPr>
          <p:cNvSpPr/>
          <p:nvPr/>
        </p:nvSpPr>
        <p:spPr>
          <a:xfrm>
            <a:off x="-1" y="10304604"/>
            <a:ext cx="7559676" cy="495160"/>
          </a:xfrm>
          <a:prstGeom prst="rect">
            <a:avLst/>
          </a:prstGeom>
          <a:solidFill>
            <a:srgbClr val="0146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B8E1C358-158F-1F37-C53A-0A19C1C62427}"/>
              </a:ext>
            </a:extLst>
          </p:cNvPr>
          <p:cNvGrpSpPr/>
          <p:nvPr/>
        </p:nvGrpSpPr>
        <p:grpSpPr>
          <a:xfrm>
            <a:off x="686589" y="645862"/>
            <a:ext cx="6186489" cy="1671638"/>
            <a:chOff x="585788" y="811021"/>
            <a:chExt cx="6457949" cy="2151286"/>
          </a:xfrm>
        </p:grpSpPr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100178F4-41BB-78BB-43E6-D2EA5FF7F1CF}"/>
                </a:ext>
              </a:extLst>
            </p:cNvPr>
            <p:cNvSpPr/>
            <p:nvPr/>
          </p:nvSpPr>
          <p:spPr>
            <a:xfrm>
              <a:off x="585788" y="828675"/>
              <a:ext cx="6457949" cy="210899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2FF03907-B681-9949-39B6-EBBF63977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5788" y="811021"/>
              <a:ext cx="2151286" cy="2151286"/>
            </a:xfrm>
            <a:prstGeom prst="rect">
              <a:avLst/>
            </a:prstGeom>
          </p:spPr>
        </p:pic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5A89FC79-693D-77A7-28CD-FF4D6A24A133}"/>
                </a:ext>
              </a:extLst>
            </p:cNvPr>
            <p:cNvSpPr/>
            <p:nvPr/>
          </p:nvSpPr>
          <p:spPr>
            <a:xfrm>
              <a:off x="2537574" y="1081443"/>
              <a:ext cx="1980852" cy="118826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5400" b="1" cap="none" spc="0" dirty="0">
                  <a:ln w="0"/>
                  <a:solidFill>
                    <a:srgbClr val="002060"/>
                  </a:solidFill>
                </a:rPr>
                <a:t>SIGA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4D8B73D6-B2E1-C8B6-E108-4A643B1213A5}"/>
                </a:ext>
              </a:extLst>
            </p:cNvPr>
            <p:cNvSpPr/>
            <p:nvPr/>
          </p:nvSpPr>
          <p:spPr>
            <a:xfrm>
              <a:off x="2537574" y="2187423"/>
              <a:ext cx="4178626" cy="43569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1600" b="0" cap="none" spc="0" dirty="0">
                  <a:ln w="0"/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Sistema de Gerenciamento de Ambientes</a:t>
              </a:r>
            </a:p>
          </p:txBody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498CAE8-17AE-FD81-5EC9-6594F5825794}"/>
              </a:ext>
            </a:extLst>
          </p:cNvPr>
          <p:cNvSpPr txBox="1"/>
          <p:nvPr/>
        </p:nvSpPr>
        <p:spPr>
          <a:xfrm>
            <a:off x="2465346" y="6866099"/>
            <a:ext cx="26289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Integrantes:</a:t>
            </a:r>
          </a:p>
          <a:p>
            <a:pPr marL="285750" indent="-285750" algn="ctr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Shanaya Nataly</a:t>
            </a:r>
          </a:p>
          <a:p>
            <a:pPr marL="285750" indent="-285750" algn="ctr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Raphael Nunes</a:t>
            </a:r>
          </a:p>
          <a:p>
            <a:pPr marL="285750" indent="-285750" algn="ctr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Simone Alves</a:t>
            </a:r>
          </a:p>
          <a:p>
            <a:pPr marL="285750" indent="-285750" algn="ctr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Aline Martins</a:t>
            </a:r>
          </a:p>
          <a:p>
            <a:pPr marL="285750" indent="-285750" algn="ctr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Luiz Felipe</a:t>
            </a:r>
          </a:p>
          <a:p>
            <a:pPr marL="285750" indent="-285750" algn="ctr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Larissa de Souza </a:t>
            </a:r>
          </a:p>
          <a:p>
            <a:pPr marL="285750" indent="-285750" algn="ctr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Isaac</a:t>
            </a:r>
            <a:endParaRPr lang="pt-BR" dirty="0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DE1C3AB4-4C53-C908-126B-6A7C34FD69B8}"/>
              </a:ext>
            </a:extLst>
          </p:cNvPr>
          <p:cNvGrpSpPr/>
          <p:nvPr/>
        </p:nvGrpSpPr>
        <p:grpSpPr>
          <a:xfrm>
            <a:off x="257173" y="2361245"/>
            <a:ext cx="7045319" cy="4312007"/>
            <a:chOff x="257175" y="2925261"/>
            <a:chExt cx="7045319" cy="4312007"/>
          </a:xfrm>
        </p:grpSpPr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EAEE18B-66BB-8A0B-180F-7E9220641914}"/>
                </a:ext>
              </a:extLst>
            </p:cNvPr>
            <p:cNvSpPr txBox="1"/>
            <p:nvPr/>
          </p:nvSpPr>
          <p:spPr>
            <a:xfrm>
              <a:off x="1622425" y="3650960"/>
              <a:ext cx="428466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Este projeto foi desenvolvido no curso </a:t>
              </a:r>
              <a:r>
                <a:rPr lang="pt-BR" b="1" i="1" dirty="0">
                  <a:solidFill>
                    <a:srgbClr val="00206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Técnico em Desenvolvimento de Sistemas </a:t>
              </a:r>
              <a:r>
                <a:rPr lang="pt-B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na Faculdade Senac/Belo Horizonte </a:t>
              </a:r>
            </a:p>
            <a:p>
              <a:pPr algn="ctr"/>
              <a:r>
                <a:rPr lang="pt-B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br>
                <a:rPr lang="pt-B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endPara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22" name="Imagem 21">
              <a:extLst>
                <a:ext uri="{FF2B5EF4-FFF2-40B4-BE49-F238E27FC236}">
                  <a16:creationId xmlns:a16="http://schemas.microsoft.com/office/drawing/2014/main" id="{EC139277-F9EA-C002-619C-F2827DA6C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04" t="25154" r="80402" b="62711"/>
            <a:stretch>
              <a:fillRect/>
            </a:stretch>
          </p:blipFill>
          <p:spPr>
            <a:xfrm>
              <a:off x="3380648" y="2925261"/>
              <a:ext cx="798373" cy="694882"/>
            </a:xfrm>
            <a:prstGeom prst="rect">
              <a:avLst/>
            </a:prstGeom>
          </p:spPr>
        </p:pic>
        <p:cxnSp>
          <p:nvCxnSpPr>
            <p:cNvPr id="24" name="Conector reto 23">
              <a:extLst>
                <a:ext uri="{FF2B5EF4-FFF2-40B4-BE49-F238E27FC236}">
                  <a16:creationId xmlns:a16="http://schemas.microsoft.com/office/drawing/2014/main" id="{248AD849-EB00-9CC5-4350-D427C7049C7A}"/>
                </a:ext>
              </a:extLst>
            </p:cNvPr>
            <p:cNvCxnSpPr/>
            <p:nvPr/>
          </p:nvCxnSpPr>
          <p:spPr>
            <a:xfrm>
              <a:off x="257175" y="3429000"/>
              <a:ext cx="3123473" cy="0"/>
            </a:xfrm>
            <a:prstGeom prst="line">
              <a:avLst/>
            </a:prstGeom>
            <a:ln w="28575">
              <a:solidFill>
                <a:srgbClr val="0146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>
              <a:extLst>
                <a:ext uri="{FF2B5EF4-FFF2-40B4-BE49-F238E27FC236}">
                  <a16:creationId xmlns:a16="http://schemas.microsoft.com/office/drawing/2014/main" id="{4F8CBC7F-7364-35F2-F507-60C8DF7ABACB}"/>
                </a:ext>
              </a:extLst>
            </p:cNvPr>
            <p:cNvCxnSpPr/>
            <p:nvPr/>
          </p:nvCxnSpPr>
          <p:spPr>
            <a:xfrm>
              <a:off x="4179021" y="3429000"/>
              <a:ext cx="3123473" cy="0"/>
            </a:xfrm>
            <a:prstGeom prst="line">
              <a:avLst/>
            </a:prstGeom>
            <a:ln w="28575">
              <a:solidFill>
                <a:srgbClr val="0146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8D7B574E-0ED6-18E1-A17C-09EED03577E2}"/>
                </a:ext>
              </a:extLst>
            </p:cNvPr>
            <p:cNvGrpSpPr/>
            <p:nvPr/>
          </p:nvGrpSpPr>
          <p:grpSpPr>
            <a:xfrm>
              <a:off x="2873306" y="4651945"/>
              <a:ext cx="2985476" cy="2585323"/>
              <a:chOff x="2805724" y="4836688"/>
              <a:chExt cx="2985476" cy="2585323"/>
            </a:xfrm>
          </p:grpSpPr>
          <p:sp>
            <p:nvSpPr>
              <p:cNvPr id="27" name="CaixaDeTexto 26">
                <a:extLst>
                  <a:ext uri="{FF2B5EF4-FFF2-40B4-BE49-F238E27FC236}">
                    <a16:creationId xmlns:a16="http://schemas.microsoft.com/office/drawing/2014/main" id="{6D03522E-9388-30C2-BB5D-A14A4D058784}"/>
                  </a:ext>
                </a:extLst>
              </p:cNvPr>
              <p:cNvSpPr txBox="1"/>
              <p:nvPr/>
            </p:nvSpPr>
            <p:spPr>
              <a:xfrm>
                <a:off x="3338705" y="4836688"/>
                <a:ext cx="2452495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Ano </a:t>
                </a:r>
              </a:p>
              <a:p>
                <a:r>
                  <a:rPr lang="pt-BR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2026/2027</a:t>
                </a:r>
              </a:p>
              <a:p>
                <a:endParaRPr lang="pt-B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pt-B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Turma</a:t>
                </a:r>
              </a:p>
              <a:p>
                <a:r>
                  <a:rPr lang="pt-BR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0648</a:t>
                </a:r>
              </a:p>
              <a:p>
                <a:endParaRPr lang="pt-BR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pt-B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Docente</a:t>
                </a:r>
              </a:p>
              <a:p>
                <a:r>
                  <a:rPr lang="pt-BR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Cleiton de Jesus Pereira</a:t>
                </a:r>
              </a:p>
              <a:p>
                <a:endParaRPr lang="pt-BR" dirty="0"/>
              </a:p>
            </p:txBody>
          </p:sp>
          <p:pic>
            <p:nvPicPr>
              <p:cNvPr id="30" name="Imagem 29">
                <a:extLst>
                  <a:ext uri="{FF2B5EF4-FFF2-40B4-BE49-F238E27FC236}">
                    <a16:creationId xmlns:a16="http://schemas.microsoft.com/office/drawing/2014/main" id="{1FFF2801-D4E0-561C-5BF5-9BEF23EC33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2827" t="90440" r="53991" b="4361"/>
              <a:stretch>
                <a:fillRect/>
              </a:stretch>
            </p:blipFill>
            <p:spPr>
              <a:xfrm>
                <a:off x="2843042" y="4893997"/>
                <a:ext cx="536601" cy="584731"/>
              </a:xfrm>
              <a:prstGeom prst="rect">
                <a:avLst/>
              </a:prstGeom>
            </p:spPr>
          </p:pic>
          <p:pic>
            <p:nvPicPr>
              <p:cNvPr id="32" name="Imagem 31">
                <a:extLst>
                  <a:ext uri="{FF2B5EF4-FFF2-40B4-BE49-F238E27FC236}">
                    <a16:creationId xmlns:a16="http://schemas.microsoft.com/office/drawing/2014/main" id="{ED38321C-64D7-AF94-DFEE-12993F2107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978" t="72626" r="73078" b="22245"/>
              <a:stretch>
                <a:fillRect/>
              </a:stretch>
            </p:blipFill>
            <p:spPr>
              <a:xfrm>
                <a:off x="2883980" y="5753653"/>
                <a:ext cx="455393" cy="528859"/>
              </a:xfrm>
              <a:prstGeom prst="rect">
                <a:avLst/>
              </a:prstGeom>
            </p:spPr>
          </p:pic>
          <p:pic>
            <p:nvPicPr>
              <p:cNvPr id="34" name="Imagem 33">
                <a:extLst>
                  <a:ext uri="{FF2B5EF4-FFF2-40B4-BE49-F238E27FC236}">
                    <a16:creationId xmlns:a16="http://schemas.microsoft.com/office/drawing/2014/main" id="{8B388C20-179C-9834-3CF7-0B34B95663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0826" t="54467" r="14514" b="39962"/>
              <a:stretch>
                <a:fillRect/>
              </a:stretch>
            </p:blipFill>
            <p:spPr>
              <a:xfrm>
                <a:off x="2805724" y="6582641"/>
                <a:ext cx="611907" cy="487595"/>
              </a:xfrm>
              <a:prstGeom prst="rect">
                <a:avLst/>
              </a:prstGeom>
            </p:spPr>
          </p:pic>
        </p:grpSp>
      </p:grpSp>
      <p:pic>
        <p:nvPicPr>
          <p:cNvPr id="38" name="Imagem 37">
            <a:extLst>
              <a:ext uri="{FF2B5EF4-FFF2-40B4-BE49-F238E27FC236}">
                <a16:creationId xmlns:a16="http://schemas.microsoft.com/office/drawing/2014/main" id="{1D18A986-D83B-E95E-1376-7F6965DA31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78" t="87276" r="52238" b="6814"/>
          <a:stretch>
            <a:fillRect/>
          </a:stretch>
        </p:blipFill>
        <p:spPr>
          <a:xfrm>
            <a:off x="3463262" y="6397224"/>
            <a:ext cx="602983" cy="410726"/>
          </a:xfrm>
          <a:prstGeom prst="rect">
            <a:avLst/>
          </a:prstGeom>
        </p:spPr>
      </p:pic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2C8EB7AA-7974-30CE-59FD-F769810E04FE}"/>
              </a:ext>
            </a:extLst>
          </p:cNvPr>
          <p:cNvCxnSpPr>
            <a:cxnSpLocks/>
          </p:cNvCxnSpPr>
          <p:nvPr/>
        </p:nvCxnSpPr>
        <p:spPr>
          <a:xfrm>
            <a:off x="4173491" y="6581049"/>
            <a:ext cx="3265534" cy="7490"/>
          </a:xfrm>
          <a:prstGeom prst="line">
            <a:avLst/>
          </a:prstGeom>
          <a:ln w="28575">
            <a:solidFill>
              <a:srgbClr val="014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4406D98D-1314-AC94-BEA7-905DBB2292D0}"/>
              </a:ext>
            </a:extLst>
          </p:cNvPr>
          <p:cNvCxnSpPr>
            <a:cxnSpLocks/>
          </p:cNvCxnSpPr>
          <p:nvPr/>
        </p:nvCxnSpPr>
        <p:spPr>
          <a:xfrm>
            <a:off x="174076" y="6581049"/>
            <a:ext cx="3183903" cy="7490"/>
          </a:xfrm>
          <a:prstGeom prst="line">
            <a:avLst/>
          </a:prstGeom>
          <a:ln w="28575">
            <a:solidFill>
              <a:srgbClr val="014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Imagem 54">
            <a:extLst>
              <a:ext uri="{FF2B5EF4-FFF2-40B4-BE49-F238E27FC236}">
                <a16:creationId xmlns:a16="http://schemas.microsoft.com/office/drawing/2014/main" id="{CB09B215-ADEB-785A-1169-DBE9251EF7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94137"/>
            <a:ext cx="7559675" cy="1362815"/>
          </a:xfrm>
          <a:prstGeom prst="rect">
            <a:avLst/>
          </a:prstGeom>
        </p:spPr>
      </p:pic>
      <p:pic>
        <p:nvPicPr>
          <p:cNvPr id="61" name="Imagem 60">
            <a:extLst>
              <a:ext uri="{FF2B5EF4-FFF2-40B4-BE49-F238E27FC236}">
                <a16:creationId xmlns:a16="http://schemas.microsoft.com/office/drawing/2014/main" id="{A922771E-2258-0432-86C5-F9F098190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9" y="10280197"/>
            <a:ext cx="640540" cy="51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496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B66F-B388-F97D-18A7-5F6B594E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0D7C1330-C502-D44F-D4D8-D051F91E6BDD}"/>
              </a:ext>
            </a:extLst>
          </p:cNvPr>
          <p:cNvSpPr/>
          <p:nvPr/>
        </p:nvSpPr>
        <p:spPr>
          <a:xfrm>
            <a:off x="-1" y="10304604"/>
            <a:ext cx="7559676" cy="495160"/>
          </a:xfrm>
          <a:prstGeom prst="rect">
            <a:avLst/>
          </a:prstGeom>
          <a:solidFill>
            <a:srgbClr val="0146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F848160-F8BB-47D5-8CA9-10F69EABD7F2}"/>
              </a:ext>
            </a:extLst>
          </p:cNvPr>
          <p:cNvSpPr txBox="1"/>
          <p:nvPr/>
        </p:nvSpPr>
        <p:spPr>
          <a:xfrm>
            <a:off x="46049" y="1900213"/>
            <a:ext cx="6927957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146A5"/>
              </a:buClr>
              <a:buFont typeface="+mj-lt"/>
              <a:buAutoNum type="arabicPeriod"/>
            </a:pPr>
            <a:r>
              <a:rPr lang="pt-BR" dirty="0"/>
              <a:t>Identificação do projeto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Nome do APP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Slogan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Plataforma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Público alvo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Objetivo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/>
            </a:pPr>
            <a:r>
              <a:rPr lang="pt-BR" dirty="0"/>
              <a:t>Layout do sistema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Estrutura visual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Cores e estilo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Tipografia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/>
            </a:pPr>
            <a:r>
              <a:rPr lang="pt-BR" dirty="0"/>
              <a:t>Qual problema o APP resolve?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Problema Central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Problemas específicos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/>
            </a:pPr>
            <a:r>
              <a:rPr lang="pt-BR" dirty="0"/>
              <a:t>Quem enfrenta esse problema?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/>
            </a:pPr>
            <a:r>
              <a:rPr lang="pt-BR" dirty="0"/>
              <a:t>Como é resolvido atualmente?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/>
            </a:pPr>
            <a:r>
              <a:rPr lang="pt-BR" dirty="0"/>
              <a:t>Quais dificuldades existem nesses métodos? 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/>
            </a:pPr>
            <a:r>
              <a:rPr lang="pt-BR" dirty="0"/>
              <a:t>Como o projeto resolve esse problema ?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/>
            </a:pPr>
            <a:r>
              <a:rPr lang="pt-BR" dirty="0"/>
              <a:t>Sistemas semelhantes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/>
            </a:pPr>
            <a:r>
              <a:rPr lang="pt-BR" dirty="0"/>
              <a:t>Diferencias do projeto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/>
            </a:pPr>
            <a:r>
              <a:rPr lang="pt-BR" dirty="0"/>
              <a:t>Equipe de desenvolvimento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/>
            </a:pPr>
            <a:r>
              <a:rPr lang="pt-BR" dirty="0"/>
              <a:t>Banco de dados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Tabelas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Regras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/>
            </a:pPr>
            <a:r>
              <a:rPr lang="pt-BR" dirty="0"/>
              <a:t>Funcionalidades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Módulos do sistema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Permissões por tipo de usuário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/>
            </a:pPr>
            <a:r>
              <a:rPr lang="pt-BR" dirty="0"/>
              <a:t>Tratamento de dados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/>
            </a:pPr>
            <a:r>
              <a:rPr lang="pt-BR" dirty="0"/>
              <a:t>Termos de uso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Privacidade e segurança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Responsabilidades</a:t>
            </a:r>
          </a:p>
        </p:txBody>
      </p:sp>
      <p:pic>
        <p:nvPicPr>
          <p:cNvPr id="61" name="Imagem 60">
            <a:extLst>
              <a:ext uri="{FF2B5EF4-FFF2-40B4-BE49-F238E27FC236}">
                <a16:creationId xmlns:a16="http://schemas.microsoft.com/office/drawing/2014/main" id="{1D62160D-9586-7DA6-1671-10B08F6F5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9" y="10280197"/>
            <a:ext cx="640540" cy="519566"/>
          </a:xfrm>
          <a:prstGeom prst="rect">
            <a:avLst/>
          </a:prstGeo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69E26292-0025-1394-6719-57707943FBFC}"/>
              </a:ext>
            </a:extLst>
          </p:cNvPr>
          <p:cNvGrpSpPr/>
          <p:nvPr/>
        </p:nvGrpSpPr>
        <p:grpSpPr>
          <a:xfrm>
            <a:off x="-1" y="-2089"/>
            <a:ext cx="7559676" cy="1298007"/>
            <a:chOff x="-1" y="-2089"/>
            <a:chExt cx="7559676" cy="1298007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E749182D-FD5C-75E9-D448-631D015BA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642"/>
            <a:stretch>
              <a:fillRect/>
            </a:stretch>
          </p:blipFill>
          <p:spPr>
            <a:xfrm>
              <a:off x="-1" y="2"/>
              <a:ext cx="7559676" cy="1295916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FE2E51A6-4FB1-6861-5419-4CBF5E930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2901" y="-2089"/>
              <a:ext cx="1596774" cy="1295203"/>
            </a:xfrm>
            <a:prstGeom prst="rect">
              <a:avLst/>
            </a:prstGeom>
          </p:spPr>
        </p:pic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473C11B2-3BA1-B017-8B87-9401E70636D7}"/>
              </a:ext>
            </a:extLst>
          </p:cNvPr>
          <p:cNvSpPr/>
          <p:nvPr/>
        </p:nvSpPr>
        <p:spPr>
          <a:xfrm>
            <a:off x="3124049" y="1298009"/>
            <a:ext cx="131157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2000" b="1" cap="none" spc="0" dirty="0">
                <a:ln w="0"/>
                <a:solidFill>
                  <a:srgbClr val="002060"/>
                </a:solidFill>
              </a:rPr>
              <a:t>SUMÁRIO</a:t>
            </a:r>
          </a:p>
        </p:txBody>
      </p:sp>
    </p:spTree>
    <p:extLst>
      <p:ext uri="{BB962C8B-B14F-4D97-AF65-F5344CB8AC3E}">
        <p14:creationId xmlns:p14="http://schemas.microsoft.com/office/powerpoint/2010/main" val="2402745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BAB61-22EB-93E7-3893-C7B01F876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0FC90A0C-1E2E-7899-0A51-0E86B1D69560}"/>
              </a:ext>
            </a:extLst>
          </p:cNvPr>
          <p:cNvSpPr/>
          <p:nvPr/>
        </p:nvSpPr>
        <p:spPr>
          <a:xfrm>
            <a:off x="-1" y="10304604"/>
            <a:ext cx="7559676" cy="495160"/>
          </a:xfrm>
          <a:prstGeom prst="rect">
            <a:avLst/>
          </a:prstGeom>
          <a:solidFill>
            <a:srgbClr val="0146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08527DF-79DD-559D-24A5-1F32D7B94D09}"/>
              </a:ext>
            </a:extLst>
          </p:cNvPr>
          <p:cNvSpPr txBox="1"/>
          <p:nvPr/>
        </p:nvSpPr>
        <p:spPr>
          <a:xfrm>
            <a:off x="160272" y="2437907"/>
            <a:ext cx="69279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146A5"/>
              </a:buClr>
              <a:buFont typeface="+mj-lt"/>
              <a:buAutoNum type="arabicPeriod" startAt="15"/>
            </a:pPr>
            <a:r>
              <a:rPr lang="pt-BR" dirty="0"/>
              <a:t>Tecnologias utilizadas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 startAt="15"/>
            </a:pPr>
            <a:r>
              <a:rPr lang="pt-BR" dirty="0"/>
              <a:t>APIS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 startAt="15"/>
            </a:pPr>
            <a:r>
              <a:rPr lang="pt-BR" dirty="0"/>
              <a:t>Orçamento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Educacional</a:t>
            </a:r>
          </a:p>
          <a:p>
            <a:pPr marL="800100" lvl="1" indent="-342900">
              <a:buClr>
                <a:srgbClr val="0146A5"/>
              </a:buClr>
              <a:buFont typeface="Arial" panose="020B0604020202020204" pitchFamily="34" charset="0"/>
              <a:buChar char="•"/>
            </a:pPr>
            <a:r>
              <a:rPr lang="pt-BR" dirty="0"/>
              <a:t>Profissional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 startAt="18"/>
            </a:pPr>
            <a:r>
              <a:rPr lang="pt-BR" dirty="0"/>
              <a:t>Estratégia de precificação 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 startAt="18"/>
            </a:pPr>
            <a:r>
              <a:rPr lang="pt-BR" dirty="0"/>
              <a:t>Considerações finais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 startAt="18"/>
            </a:pPr>
            <a:r>
              <a:rPr lang="pt-BR" dirty="0"/>
              <a:t>Protótipos de telas</a:t>
            </a:r>
          </a:p>
          <a:p>
            <a:pPr marL="342900" indent="-342900">
              <a:buClr>
                <a:srgbClr val="0146A5"/>
              </a:buClr>
              <a:buFont typeface="+mj-lt"/>
              <a:buAutoNum type="arabicPeriod" startAt="18"/>
            </a:pPr>
            <a:r>
              <a:rPr lang="pt-BR" dirty="0"/>
              <a:t>Tabela Excel implementação</a:t>
            </a:r>
          </a:p>
        </p:txBody>
      </p:sp>
      <p:pic>
        <p:nvPicPr>
          <p:cNvPr id="61" name="Imagem 60">
            <a:extLst>
              <a:ext uri="{FF2B5EF4-FFF2-40B4-BE49-F238E27FC236}">
                <a16:creationId xmlns:a16="http://schemas.microsoft.com/office/drawing/2014/main" id="{FC366480-0D4B-3889-EF71-E87CA5D5C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9" y="10280197"/>
            <a:ext cx="640540" cy="519566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2AF7A7A9-7C2E-AEE5-BDE6-0E87CF2D5E77}"/>
              </a:ext>
            </a:extLst>
          </p:cNvPr>
          <p:cNvGrpSpPr/>
          <p:nvPr/>
        </p:nvGrpSpPr>
        <p:grpSpPr>
          <a:xfrm>
            <a:off x="-1" y="-2089"/>
            <a:ext cx="7559676" cy="1298007"/>
            <a:chOff x="-1" y="-2089"/>
            <a:chExt cx="7559676" cy="1298007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BFB66C46-CACD-6229-179D-DEA5B5AFF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642"/>
            <a:stretch>
              <a:fillRect/>
            </a:stretch>
          </p:blipFill>
          <p:spPr>
            <a:xfrm>
              <a:off x="-1" y="2"/>
              <a:ext cx="7559676" cy="1295916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322B16AA-4111-D3B5-D86B-98B7069C1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2901" y="-2089"/>
              <a:ext cx="1596774" cy="12952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703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0BE64-599A-56E9-AAEB-6DCC8A231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226B75E8-C9DB-0CE2-4DB5-C2C64FECB22F}"/>
              </a:ext>
            </a:extLst>
          </p:cNvPr>
          <p:cNvSpPr/>
          <p:nvPr/>
        </p:nvSpPr>
        <p:spPr>
          <a:xfrm>
            <a:off x="-1" y="10304604"/>
            <a:ext cx="7559676" cy="495160"/>
          </a:xfrm>
          <a:prstGeom prst="rect">
            <a:avLst/>
          </a:prstGeom>
          <a:solidFill>
            <a:srgbClr val="0146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dirty="0"/>
              <a:t>1</a:t>
            </a:r>
          </a:p>
        </p:txBody>
      </p:sp>
      <p:pic>
        <p:nvPicPr>
          <p:cNvPr id="61" name="Imagem 60">
            <a:extLst>
              <a:ext uri="{FF2B5EF4-FFF2-40B4-BE49-F238E27FC236}">
                <a16:creationId xmlns:a16="http://schemas.microsoft.com/office/drawing/2014/main" id="{9C765C63-F20C-3505-DB05-5784AB10C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9" y="10280197"/>
            <a:ext cx="640540" cy="519566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F18C0889-DC90-8936-5A92-537B669BB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759639"/>
              </p:ext>
            </p:extLst>
          </p:nvPr>
        </p:nvGraphicFramePr>
        <p:xfrm>
          <a:off x="224580" y="1976146"/>
          <a:ext cx="4656057" cy="3395093"/>
        </p:xfrm>
        <a:graphic>
          <a:graphicData uri="http://schemas.openxmlformats.org/drawingml/2006/table">
            <a:tbl>
              <a:tblPr/>
              <a:tblGrid>
                <a:gridCol w="960007">
                  <a:extLst>
                    <a:ext uri="{9D8B030D-6E8A-4147-A177-3AD203B41FA5}">
                      <a16:colId xmlns:a16="http://schemas.microsoft.com/office/drawing/2014/main" val="3616739725"/>
                    </a:ext>
                  </a:extLst>
                </a:gridCol>
                <a:gridCol w="3696050">
                  <a:extLst>
                    <a:ext uri="{9D8B030D-6E8A-4147-A177-3AD203B41FA5}">
                      <a16:colId xmlns:a16="http://schemas.microsoft.com/office/drawing/2014/main" val="823329349"/>
                    </a:ext>
                  </a:extLst>
                </a:gridCol>
              </a:tblGrid>
              <a:tr h="263625"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pt-BR" sz="1125" b="1" i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Item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pt-BR" sz="1125" b="1" i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Descrição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5204"/>
                  </a:ext>
                </a:extLst>
              </a:tr>
              <a:tr h="417999"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pt-BR" sz="1125" b="1" i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Nome do APP</a:t>
                      </a:r>
                      <a:endParaRPr lang="pt-BR" sz="1125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A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pt-BR" sz="1125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SenacSalas</a:t>
                      </a:r>
                      <a:r>
                        <a:rPr lang="pt-BR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- Gerenciamento de Ambientes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3224"/>
                  </a:ext>
                </a:extLst>
              </a:tr>
              <a:tr h="263625"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pt-BR" sz="1125" b="1" i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Slogan</a:t>
                      </a:r>
                      <a:endParaRPr lang="pt-BR" sz="1125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A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pt-BR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"Organize seu espaço acadêmico com inteligência"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583901"/>
                  </a:ext>
                </a:extLst>
              </a:tr>
              <a:tr h="263625"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pt-BR" sz="1125" b="1" i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Plataforma</a:t>
                      </a:r>
                      <a:endParaRPr lang="pt-BR" sz="1125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A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pt-BR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Web (Desktop e Mobile)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135853"/>
                  </a:ext>
                </a:extLst>
              </a:tr>
              <a:tr h="417999"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pt-BR" sz="1125" b="1" i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Público-alvo</a:t>
                      </a:r>
                      <a:endParaRPr lang="pt-BR" sz="1125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A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pt-BR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Instituições de ensino (escolas, faculdades, cursos técnicos) e empresas com múltiplas unidades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285526"/>
                  </a:ext>
                </a:extLst>
              </a:tr>
              <a:tr h="572373"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pt-BR" sz="1125" b="1" i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Objetivo</a:t>
                      </a:r>
                      <a:endParaRPr lang="pt-BR" sz="1125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A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pt-BR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Facilitar o gerenciamento de salas, cursos, professores e cronogramas de aulas em instituições com múltiplas unidades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904356"/>
                  </a:ext>
                </a:extLst>
              </a:tr>
            </a:tbl>
          </a:graphicData>
        </a:graphic>
      </p:graphicFrame>
      <p:pic>
        <p:nvPicPr>
          <p:cNvPr id="8" name="Imagem 7">
            <a:extLst>
              <a:ext uri="{FF2B5EF4-FFF2-40B4-BE49-F238E27FC236}">
                <a16:creationId xmlns:a16="http://schemas.microsoft.com/office/drawing/2014/main" id="{99EAF26B-CB00-1534-3557-517283D387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175" b="67125"/>
          <a:stretch>
            <a:fillRect/>
          </a:stretch>
        </p:blipFill>
        <p:spPr>
          <a:xfrm>
            <a:off x="4977627" y="1976144"/>
            <a:ext cx="2498526" cy="3395093"/>
          </a:xfrm>
          <a:prstGeom prst="rect">
            <a:avLst/>
          </a:prstGeom>
          <a:ln w="19050">
            <a:solidFill>
              <a:srgbClr val="0146A5"/>
            </a:solidFill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DF40C68-8EF1-E1B6-AF0F-7011ED0D8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73" y="6091921"/>
            <a:ext cx="6300721" cy="4200480"/>
          </a:xfrm>
          <a:prstGeom prst="rect">
            <a:avLst/>
          </a:prstGeom>
        </p:spPr>
      </p:pic>
      <p:grpSp>
        <p:nvGrpSpPr>
          <p:cNvPr id="16" name="Agrupar 15">
            <a:extLst>
              <a:ext uri="{FF2B5EF4-FFF2-40B4-BE49-F238E27FC236}">
                <a16:creationId xmlns:a16="http://schemas.microsoft.com/office/drawing/2014/main" id="{3A60A41D-63E9-03AE-3D6D-6625BEE51E28}"/>
              </a:ext>
            </a:extLst>
          </p:cNvPr>
          <p:cNvGrpSpPr/>
          <p:nvPr/>
        </p:nvGrpSpPr>
        <p:grpSpPr>
          <a:xfrm>
            <a:off x="0" y="-36672"/>
            <a:ext cx="7559676" cy="1298007"/>
            <a:chOff x="-1" y="-2089"/>
            <a:chExt cx="7559676" cy="1298007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7F8EF5A3-3A8C-F4BC-093B-3DBB021E7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642"/>
            <a:stretch>
              <a:fillRect/>
            </a:stretch>
          </p:blipFill>
          <p:spPr>
            <a:xfrm>
              <a:off x="-1" y="2"/>
              <a:ext cx="7559676" cy="1295916"/>
            </a:xfrm>
            <a:prstGeom prst="rect">
              <a:avLst/>
            </a:prstGeom>
          </p:spPr>
        </p:pic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261BD83E-5DEC-4979-DBFB-6AA875C9B9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2901" y="-2089"/>
              <a:ext cx="1596774" cy="1295203"/>
            </a:xfrm>
            <a:prstGeom prst="rect">
              <a:avLst/>
            </a:prstGeom>
          </p:spPr>
        </p:pic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D30DAFFC-15AB-91A1-E920-8BB7281E2B8E}"/>
              </a:ext>
            </a:extLst>
          </p:cNvPr>
          <p:cNvGrpSpPr/>
          <p:nvPr/>
        </p:nvGrpSpPr>
        <p:grpSpPr>
          <a:xfrm>
            <a:off x="1774396" y="1441882"/>
            <a:ext cx="3970483" cy="426216"/>
            <a:chOff x="1774396" y="1441882"/>
            <a:chExt cx="3970483" cy="426216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FE2D23A-0EBF-9717-E482-FF0F5926E5EA}"/>
                </a:ext>
              </a:extLst>
            </p:cNvPr>
            <p:cNvSpPr/>
            <p:nvPr/>
          </p:nvSpPr>
          <p:spPr>
            <a:xfrm>
              <a:off x="2170567" y="1467988"/>
              <a:ext cx="3574312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b="1" cap="none" spc="0" dirty="0">
                  <a:ln w="0"/>
                  <a:solidFill>
                    <a:srgbClr val="002060"/>
                  </a:solidFill>
                </a:rPr>
                <a:t>IDENTIFICAÇÃO DO PROJETO</a:t>
              </a: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8D2E9658-389E-5D86-6426-F7AA2EC0CC43}"/>
                </a:ext>
              </a:extLst>
            </p:cNvPr>
            <p:cNvSpPr/>
            <p:nvPr/>
          </p:nvSpPr>
          <p:spPr>
            <a:xfrm>
              <a:off x="1774396" y="1441882"/>
              <a:ext cx="476381" cy="400111"/>
            </a:xfrm>
            <a:prstGeom prst="roundRect">
              <a:avLst/>
            </a:prstGeom>
            <a:solidFill>
              <a:srgbClr val="0146A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b="1" dirty="0"/>
                <a:t>1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DC0AD98F-B296-6AE3-E9E4-A36C61E63356}"/>
              </a:ext>
            </a:extLst>
          </p:cNvPr>
          <p:cNvGrpSpPr/>
          <p:nvPr/>
        </p:nvGrpSpPr>
        <p:grpSpPr>
          <a:xfrm>
            <a:off x="2214712" y="5557658"/>
            <a:ext cx="3486022" cy="426216"/>
            <a:chOff x="1774396" y="1441882"/>
            <a:chExt cx="3486022" cy="426216"/>
          </a:xfrm>
        </p:grpSpPr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1553952B-04DD-00D6-FF89-FA7CD8B26723}"/>
                </a:ext>
              </a:extLst>
            </p:cNvPr>
            <p:cNvSpPr/>
            <p:nvPr/>
          </p:nvSpPr>
          <p:spPr>
            <a:xfrm>
              <a:off x="2250778" y="1467988"/>
              <a:ext cx="3009640" cy="40011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r>
                <a:rPr lang="pt-BR" sz="2000" b="1" dirty="0">
                  <a:ln w="0"/>
                  <a:solidFill>
                    <a:srgbClr val="002060"/>
                  </a:solidFill>
                </a:rPr>
                <a:t>LAYOUT DO SISTEMA</a:t>
              </a:r>
              <a:endParaRPr lang="pt-BR" sz="2000" b="1" cap="none" spc="0" dirty="0">
                <a:ln w="0"/>
                <a:solidFill>
                  <a:srgbClr val="002060"/>
                </a:solidFill>
              </a:endParaRP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4F3F4728-5BE3-CCC7-E789-CA1663C07D4C}"/>
                </a:ext>
              </a:extLst>
            </p:cNvPr>
            <p:cNvSpPr/>
            <p:nvPr/>
          </p:nvSpPr>
          <p:spPr>
            <a:xfrm>
              <a:off x="1774396" y="1441882"/>
              <a:ext cx="476381" cy="400111"/>
            </a:xfrm>
            <a:prstGeom prst="roundRect">
              <a:avLst/>
            </a:prstGeom>
            <a:solidFill>
              <a:srgbClr val="0146A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b="1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4141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145DD-254D-77F9-23C0-EC9E59B32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CBCC4D9D-9D99-BB14-0049-E2F64B3F23DC}"/>
              </a:ext>
            </a:extLst>
          </p:cNvPr>
          <p:cNvSpPr/>
          <p:nvPr/>
        </p:nvSpPr>
        <p:spPr>
          <a:xfrm>
            <a:off x="-1" y="10304604"/>
            <a:ext cx="7559676" cy="495160"/>
          </a:xfrm>
          <a:prstGeom prst="rect">
            <a:avLst/>
          </a:prstGeom>
          <a:solidFill>
            <a:srgbClr val="0146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dirty="0"/>
              <a:t>2</a:t>
            </a:r>
          </a:p>
        </p:txBody>
      </p:sp>
      <p:pic>
        <p:nvPicPr>
          <p:cNvPr id="61" name="Imagem 60">
            <a:extLst>
              <a:ext uri="{FF2B5EF4-FFF2-40B4-BE49-F238E27FC236}">
                <a16:creationId xmlns:a16="http://schemas.microsoft.com/office/drawing/2014/main" id="{898CFD38-CFD3-D5DA-0D20-6A879DCC1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9" y="10280197"/>
            <a:ext cx="640540" cy="519566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4D78E15-D5BD-D6C5-7162-112236196694}"/>
              </a:ext>
            </a:extLst>
          </p:cNvPr>
          <p:cNvGraphicFramePr>
            <a:graphicFrameLocks noGrp="1"/>
          </p:cNvGraphicFramePr>
          <p:nvPr/>
        </p:nvGraphicFramePr>
        <p:xfrm>
          <a:off x="224580" y="1976146"/>
          <a:ext cx="4656057" cy="3395093"/>
        </p:xfrm>
        <a:graphic>
          <a:graphicData uri="http://schemas.openxmlformats.org/drawingml/2006/table">
            <a:tbl>
              <a:tblPr/>
              <a:tblGrid>
                <a:gridCol w="960007">
                  <a:extLst>
                    <a:ext uri="{9D8B030D-6E8A-4147-A177-3AD203B41FA5}">
                      <a16:colId xmlns:a16="http://schemas.microsoft.com/office/drawing/2014/main" val="3616739725"/>
                    </a:ext>
                  </a:extLst>
                </a:gridCol>
                <a:gridCol w="3696050">
                  <a:extLst>
                    <a:ext uri="{9D8B030D-6E8A-4147-A177-3AD203B41FA5}">
                      <a16:colId xmlns:a16="http://schemas.microsoft.com/office/drawing/2014/main" val="823329349"/>
                    </a:ext>
                  </a:extLst>
                </a:gridCol>
              </a:tblGrid>
              <a:tr h="275509"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pt-BR" sz="1125" b="1" i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Item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pt-BR" sz="1125" b="1" i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Descrição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5204"/>
                  </a:ext>
                </a:extLst>
              </a:tr>
              <a:tr h="436841"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pt-BR" sz="1125" b="1" i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Nome do APP</a:t>
                      </a:r>
                      <a:endParaRPr lang="pt-BR" sz="1125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A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pt-BR" sz="1125" b="0" i="0" dirty="0" err="1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SenacSalas</a:t>
                      </a:r>
                      <a:r>
                        <a:rPr lang="pt-BR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 - Gerenciamento de Ambientes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3224"/>
                  </a:ext>
                </a:extLst>
              </a:tr>
              <a:tr h="275509"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pt-BR" sz="1125" b="1" i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Slogan</a:t>
                      </a:r>
                      <a:endParaRPr lang="pt-BR" sz="1125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A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pt-BR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"Organize seu espaço acadêmico com inteligência"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583901"/>
                  </a:ext>
                </a:extLst>
              </a:tr>
              <a:tr h="275509"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pt-BR" sz="1125" b="1" i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Plataforma</a:t>
                      </a:r>
                      <a:endParaRPr lang="pt-BR" sz="1125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A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pt-BR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Web (Desktop e Mobile)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135853"/>
                  </a:ext>
                </a:extLst>
              </a:tr>
              <a:tr h="436841"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pt-BR" sz="1125" b="1" i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Público-alvo</a:t>
                      </a:r>
                      <a:endParaRPr lang="pt-BR" sz="1125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A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pt-BR" sz="1125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Instituições de ensino (escolas, faculdades, cursos técnicos) e empresas com múltiplas unidades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285526"/>
                  </a:ext>
                </a:extLst>
              </a:tr>
              <a:tr h="598175">
                <a:tc>
                  <a:txBody>
                    <a:bodyPr/>
                    <a:lstStyle/>
                    <a:p>
                      <a:pPr algn="ctr">
                        <a:lnSpc>
                          <a:spcPct val="138889"/>
                        </a:lnSpc>
                        <a:buNone/>
                      </a:pPr>
                      <a:r>
                        <a:rPr lang="pt-BR" sz="1125" b="1" i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Objetivo</a:t>
                      </a:r>
                      <a:endParaRPr lang="pt-BR" sz="1125" b="0" i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6A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pt-BR" sz="1125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Facilitar o gerenciamento de salas, cursos, professores e cronogramas de aulas em instituições com múltiplas unidades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904356"/>
                  </a:ext>
                </a:extLst>
              </a:tr>
            </a:tbl>
          </a:graphicData>
        </a:graphic>
      </p:graphicFrame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C5D3EA0-4E89-085B-D3AC-842D674562E8}"/>
              </a:ext>
            </a:extLst>
          </p:cNvPr>
          <p:cNvGrpSpPr/>
          <p:nvPr/>
        </p:nvGrpSpPr>
        <p:grpSpPr>
          <a:xfrm>
            <a:off x="0" y="-36672"/>
            <a:ext cx="7559676" cy="1298007"/>
            <a:chOff x="-1" y="-2089"/>
            <a:chExt cx="7559676" cy="1298007"/>
          </a:xfrm>
        </p:grpSpPr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7BA6859B-F1B7-39EA-DC21-D163658EC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642"/>
            <a:stretch>
              <a:fillRect/>
            </a:stretch>
          </p:blipFill>
          <p:spPr>
            <a:xfrm>
              <a:off x="-1" y="2"/>
              <a:ext cx="7559676" cy="1295916"/>
            </a:xfrm>
            <a:prstGeom prst="rect">
              <a:avLst/>
            </a:prstGeom>
          </p:spPr>
        </p:pic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CFE92FFF-4614-F9ED-DDAE-E933683FA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2901" y="-2089"/>
              <a:ext cx="1596774" cy="1295203"/>
            </a:xfrm>
            <a:prstGeom prst="rect">
              <a:avLst/>
            </a:prstGeom>
          </p:spPr>
        </p:pic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70D338BC-558C-8881-4E3C-B06C253BB3B0}"/>
              </a:ext>
            </a:extLst>
          </p:cNvPr>
          <p:cNvGrpSpPr/>
          <p:nvPr/>
        </p:nvGrpSpPr>
        <p:grpSpPr>
          <a:xfrm>
            <a:off x="1774396" y="1441882"/>
            <a:ext cx="3970483" cy="426216"/>
            <a:chOff x="1774396" y="1441882"/>
            <a:chExt cx="3970483" cy="426216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B52F9049-DC41-8729-B64A-F0CDC032C518}"/>
                </a:ext>
              </a:extLst>
            </p:cNvPr>
            <p:cNvSpPr/>
            <p:nvPr/>
          </p:nvSpPr>
          <p:spPr>
            <a:xfrm>
              <a:off x="2170567" y="1467988"/>
              <a:ext cx="3574312" cy="40011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2000" b="1" cap="none" spc="0" dirty="0">
                  <a:ln w="0"/>
                  <a:solidFill>
                    <a:srgbClr val="002060"/>
                  </a:solidFill>
                </a:rPr>
                <a:t>IDENTIFICAÇÃO DO PROJETO</a:t>
              </a:r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D16CE966-EA92-D4EA-D6F7-00DBEBD31C67}"/>
                </a:ext>
              </a:extLst>
            </p:cNvPr>
            <p:cNvSpPr/>
            <p:nvPr/>
          </p:nvSpPr>
          <p:spPr>
            <a:xfrm>
              <a:off x="1774396" y="1441882"/>
              <a:ext cx="476381" cy="400111"/>
            </a:xfrm>
            <a:prstGeom prst="roundRect">
              <a:avLst/>
            </a:prstGeom>
            <a:solidFill>
              <a:srgbClr val="0146A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b="1" dirty="0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3677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B468F-C85C-C391-88A0-81589488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F567163-A9D0-69EA-2358-045E7E643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90927" y="4786312"/>
            <a:ext cx="8300643" cy="553376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8D5CE66-48EC-C7A5-84D3-04D49F88FD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05" y="-899256"/>
            <a:ext cx="7559675" cy="60498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D22CC23-948E-3D4A-5E35-89F8F6F82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363" y="6274567"/>
            <a:ext cx="4078685" cy="271912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12746AF-D749-76F7-1AAB-21802BEEE2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525" y="1684602"/>
            <a:ext cx="7559675" cy="503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625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</TotalTime>
  <Words>291</Words>
  <Application>Microsoft Office PowerPoint</Application>
  <PresentationFormat>Personalizar</PresentationFormat>
  <Paragraphs>92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quote-cjk-patch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Shanaya Nataly Silva de Jesus</dc:creator>
  <cp:lastModifiedBy>Shanaya Nataly Silva de Jesus</cp:lastModifiedBy>
  <cp:revision>38</cp:revision>
  <dcterms:created xsi:type="dcterms:W3CDTF">2026-09-04T11:25:04Z</dcterms:created>
  <dcterms:modified xsi:type="dcterms:W3CDTF">2026-09-04T14:19:57Z</dcterms:modified>
</cp:coreProperties>
</file>